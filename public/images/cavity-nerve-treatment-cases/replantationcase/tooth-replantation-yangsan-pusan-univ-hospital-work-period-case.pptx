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72" y="1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7B7E-5C00-4A4E-90B9-7C937670382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D67-47A9-45C0-BF4C-A0C0FA426C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856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7B7E-5C00-4A4E-90B9-7C937670382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D67-47A9-45C0-BF4C-A0C0FA426C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73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7B7E-5C00-4A4E-90B9-7C937670382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D67-47A9-45C0-BF4C-A0C0FA426C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836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7B7E-5C00-4A4E-90B9-7C937670382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D67-47A9-45C0-BF4C-A0C0FA426C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064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7B7E-5C00-4A4E-90B9-7C937670382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D67-47A9-45C0-BF4C-A0C0FA426C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263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7B7E-5C00-4A4E-90B9-7C937670382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D67-47A9-45C0-BF4C-A0C0FA426C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246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7B7E-5C00-4A4E-90B9-7C937670382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D67-47A9-45C0-BF4C-A0C0FA426C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631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7B7E-5C00-4A4E-90B9-7C937670382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D67-47A9-45C0-BF4C-A0C0FA426C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212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7B7E-5C00-4A4E-90B9-7C937670382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D67-47A9-45C0-BF4C-A0C0FA426C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436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7B7E-5C00-4A4E-90B9-7C937670382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D67-47A9-45C0-BF4C-A0C0FA426C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442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C7B7E-5C00-4A4E-90B9-7C937670382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D67-47A9-45C0-BF4C-A0C0FA426C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991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C7B7E-5C00-4A4E-90B9-7C937670382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C2D67-47A9-45C0-BF4C-A0C0FA426C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52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제목 1"/>
          <p:cNvSpPr>
            <a:spLocks noGrp="1"/>
          </p:cNvSpPr>
          <p:nvPr>
            <p:ph type="title"/>
          </p:nvPr>
        </p:nvSpPr>
        <p:spPr>
          <a:xfrm>
            <a:off x="2063751" y="400050"/>
            <a:ext cx="8785225" cy="1157288"/>
          </a:xfrm>
        </p:spPr>
        <p:txBody>
          <a:bodyPr/>
          <a:lstStyle/>
          <a:p>
            <a:pPr eaLnBrk="1" hangingPunct="1"/>
            <a:r>
              <a:rPr lang="en-US" altLang="ko-KR" smtClean="0">
                <a:solidFill>
                  <a:srgbClr val="C00000"/>
                </a:solidFill>
              </a:rPr>
              <a:t>20. </a:t>
            </a:r>
            <a:r>
              <a:rPr lang="ko-KR" altLang="en-US" smtClean="0">
                <a:solidFill>
                  <a:srgbClr val="C00000"/>
                </a:solidFill>
              </a:rPr>
              <a:t>의도적재식술</a:t>
            </a:r>
            <a:r>
              <a:rPr lang="en-US" altLang="ko-KR" smtClean="0">
                <a:solidFill>
                  <a:srgbClr val="C00000"/>
                </a:solidFill>
              </a:rPr>
              <a:t>/</a:t>
            </a:r>
            <a:r>
              <a:rPr lang="ko-KR" altLang="en-US" smtClean="0">
                <a:solidFill>
                  <a:srgbClr val="C00000"/>
                </a:solidFill>
              </a:rPr>
              <a:t>자가치아이식술 </a:t>
            </a:r>
          </a:p>
        </p:txBody>
      </p:sp>
      <p:sp>
        <p:nvSpPr>
          <p:cNvPr id="66563" name="내용 개체 틀 2"/>
          <p:cNvSpPr>
            <a:spLocks noGrp="1"/>
          </p:cNvSpPr>
          <p:nvPr>
            <p:ph idx="1"/>
          </p:nvPr>
        </p:nvSpPr>
        <p:spPr>
          <a:xfrm>
            <a:off x="1981200" y="1600201"/>
            <a:ext cx="4330700" cy="4525963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en-US" altLang="ko-KR" sz="1800" b="1" dirty="0">
                <a:solidFill>
                  <a:srgbClr val="C00000"/>
                </a:solidFill>
              </a:rPr>
              <a:t>Chief Complaint:</a:t>
            </a:r>
            <a:r>
              <a:rPr lang="ko-KR" altLang="en-US" sz="1800" b="1" dirty="0">
                <a:solidFill>
                  <a:srgbClr val="C00000"/>
                </a:solidFill>
              </a:rPr>
              <a:t> </a:t>
            </a:r>
            <a:endParaRPr lang="en-US" altLang="ko-KR" sz="1800" b="1" dirty="0">
              <a:solidFill>
                <a:srgbClr val="C00000"/>
              </a:solidFill>
            </a:endParaRPr>
          </a:p>
          <a:p>
            <a:pPr marL="342900" lvl="1" indent="0">
              <a:buNone/>
              <a:defRPr/>
            </a:pPr>
            <a:r>
              <a:rPr lang="ko-KR" altLang="en-US" dirty="0" smtClean="0">
                <a:solidFill>
                  <a:srgbClr val="C00000"/>
                </a:solidFill>
              </a:rPr>
              <a:t>왼쪽 위 안쪽 어금니 잇몸이 욱신거려서 병원 갔더니 </a:t>
            </a:r>
            <a:r>
              <a:rPr lang="ko-KR" altLang="en-US" dirty="0" err="1" smtClean="0">
                <a:solidFill>
                  <a:srgbClr val="C00000"/>
                </a:solidFill>
              </a:rPr>
              <a:t>물혹이나</a:t>
            </a:r>
            <a:r>
              <a:rPr lang="ko-KR" altLang="en-US" dirty="0" smtClean="0">
                <a:solidFill>
                  <a:srgbClr val="C00000"/>
                </a:solidFill>
              </a:rPr>
              <a:t> 뼈가 삭은 거래요</a:t>
            </a:r>
            <a:r>
              <a:rPr lang="en-US" altLang="ko-KR" dirty="0" smtClean="0">
                <a:solidFill>
                  <a:srgbClr val="C00000"/>
                </a:solidFill>
              </a:rPr>
              <a:t>. </a:t>
            </a:r>
          </a:p>
          <a:p>
            <a:pPr marL="342900" lvl="1" indent="0">
              <a:buNone/>
              <a:defRPr/>
            </a:pPr>
            <a:endParaRPr lang="en-US" altLang="ko-KR" dirty="0" smtClean="0">
              <a:solidFill>
                <a:srgbClr val="C00000"/>
              </a:solidFill>
            </a:endParaRPr>
          </a:p>
          <a:p>
            <a:pPr eaLnBrk="1" hangingPunct="1">
              <a:defRPr/>
            </a:pPr>
            <a:r>
              <a:rPr lang="en-US" altLang="ko-KR" sz="1800" b="1" dirty="0"/>
              <a:t>Sex/age: </a:t>
            </a:r>
            <a:r>
              <a:rPr lang="en-US" altLang="ko-KR" sz="1800" dirty="0"/>
              <a:t>F/39</a:t>
            </a:r>
          </a:p>
          <a:p>
            <a:pPr eaLnBrk="1" hangingPunct="1">
              <a:defRPr/>
            </a:pPr>
            <a:r>
              <a:rPr lang="en-US" altLang="ko-KR" sz="1800" b="1" dirty="0"/>
              <a:t>PMH: </a:t>
            </a:r>
            <a:r>
              <a:rPr lang="ko-KR" altLang="en-US" sz="1800" dirty="0"/>
              <a:t>우울증 </a:t>
            </a:r>
            <a:r>
              <a:rPr lang="en-US" altLang="ko-KR" sz="1800" dirty="0"/>
              <a:t>(3</a:t>
            </a:r>
            <a:r>
              <a:rPr lang="ko-KR" altLang="en-US" sz="1800" dirty="0"/>
              <a:t>달 전</a:t>
            </a:r>
            <a:r>
              <a:rPr lang="en-US" altLang="ko-KR" sz="1800" dirty="0"/>
              <a:t>)</a:t>
            </a:r>
          </a:p>
          <a:p>
            <a:pPr eaLnBrk="1" hangingPunct="1">
              <a:defRPr/>
            </a:pPr>
            <a:r>
              <a:rPr lang="en-US" altLang="ko-KR" sz="1800" b="1" dirty="0"/>
              <a:t>PDH: </a:t>
            </a:r>
            <a:r>
              <a:rPr lang="en-US" altLang="ko-KR" sz="1800" dirty="0"/>
              <a:t>#27 RCT, gold cr. (18</a:t>
            </a:r>
            <a:r>
              <a:rPr lang="ko-KR" altLang="en-US" sz="1800" dirty="0"/>
              <a:t>년 전</a:t>
            </a:r>
            <a:r>
              <a:rPr lang="en-US" altLang="ko-KR" sz="1800" dirty="0"/>
              <a:t>)</a:t>
            </a:r>
          </a:p>
          <a:p>
            <a:pPr eaLnBrk="1" hangingPunct="1">
              <a:defRPr/>
            </a:pPr>
            <a:r>
              <a:rPr lang="en-US" altLang="ko-KR" sz="1800" b="1" dirty="0"/>
              <a:t>PI: </a:t>
            </a:r>
            <a:r>
              <a:rPr lang="en-US" altLang="ko-KR" sz="1800" dirty="0"/>
              <a:t>#27 gold cr. </a:t>
            </a:r>
          </a:p>
          <a:p>
            <a:pPr marL="0" indent="0">
              <a:buNone/>
              <a:defRPr/>
            </a:pPr>
            <a:r>
              <a:rPr lang="en-US" altLang="ko-KR" sz="1800" dirty="0"/>
              <a:t>                  mob(+) per(+) PD(6 ㎜, distal)</a:t>
            </a:r>
          </a:p>
          <a:p>
            <a:pPr eaLnBrk="1" hangingPunct="1">
              <a:defRPr/>
            </a:pPr>
            <a:r>
              <a:rPr lang="en-US" altLang="ko-KR" sz="1800" b="1" dirty="0"/>
              <a:t>Diagnosis: </a:t>
            </a:r>
          </a:p>
          <a:p>
            <a:pPr marL="342900" lvl="1" indent="0">
              <a:buNone/>
              <a:defRPr/>
            </a:pPr>
            <a:r>
              <a:rPr lang="en-US" altLang="ko-KR" dirty="0" smtClean="0"/>
              <a:t>#27 prior RCF, symptomatic apical periodontitis</a:t>
            </a:r>
          </a:p>
          <a:p>
            <a:pPr eaLnBrk="1" hangingPunct="1">
              <a:defRPr/>
            </a:pPr>
            <a:r>
              <a:rPr lang="en-US" altLang="ko-KR" sz="1800" b="1" dirty="0"/>
              <a:t>Treatment plan: </a:t>
            </a:r>
          </a:p>
          <a:p>
            <a:pPr marL="342900" lvl="1" indent="0">
              <a:buNone/>
              <a:defRPr/>
            </a:pPr>
            <a:r>
              <a:rPr lang="en-US" altLang="ko-KR" dirty="0" smtClean="0"/>
              <a:t>#27 Intentional replantation</a:t>
            </a:r>
          </a:p>
          <a:p>
            <a:pPr eaLnBrk="1" hangingPunct="1">
              <a:defRPr/>
            </a:pPr>
            <a:endParaRPr lang="ko-KR" altLang="en-US" sz="1800" b="1" dirty="0"/>
          </a:p>
        </p:txBody>
      </p:sp>
      <p:pic>
        <p:nvPicPr>
          <p:cNvPr id="35844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825" y="3927475"/>
            <a:ext cx="3600450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825" y="1306514"/>
            <a:ext cx="360045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5349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제목 1"/>
          <p:cNvSpPr>
            <a:spLocks noGrp="1"/>
          </p:cNvSpPr>
          <p:nvPr>
            <p:ph type="title"/>
          </p:nvPr>
        </p:nvSpPr>
        <p:spPr>
          <a:xfrm>
            <a:off x="2062163" y="404814"/>
            <a:ext cx="8642350" cy="1152525"/>
          </a:xfrm>
        </p:spPr>
        <p:txBody>
          <a:bodyPr/>
          <a:lstStyle/>
          <a:p>
            <a:pPr eaLnBrk="1" hangingPunct="1"/>
            <a:r>
              <a:rPr lang="en-US" altLang="ko-KR" smtClean="0">
                <a:solidFill>
                  <a:srgbClr val="C00000"/>
                </a:solidFill>
              </a:rPr>
              <a:t>20. </a:t>
            </a:r>
            <a:r>
              <a:rPr lang="ko-KR" altLang="en-US" smtClean="0">
                <a:solidFill>
                  <a:srgbClr val="C00000"/>
                </a:solidFill>
              </a:rPr>
              <a:t>의도적재식술</a:t>
            </a:r>
            <a:r>
              <a:rPr lang="en-US" altLang="ko-KR" smtClean="0">
                <a:solidFill>
                  <a:srgbClr val="C00000"/>
                </a:solidFill>
              </a:rPr>
              <a:t>/</a:t>
            </a:r>
            <a:r>
              <a:rPr lang="ko-KR" altLang="en-US" smtClean="0">
                <a:solidFill>
                  <a:srgbClr val="C00000"/>
                </a:solidFill>
              </a:rPr>
              <a:t>자가치아이식술 </a:t>
            </a:r>
          </a:p>
        </p:txBody>
      </p:sp>
      <p:sp>
        <p:nvSpPr>
          <p:cNvPr id="37892" name="내용 개체 틀 2"/>
          <p:cNvSpPr>
            <a:spLocks noGrp="1"/>
          </p:cNvSpPr>
          <p:nvPr>
            <p:ph idx="1"/>
          </p:nvPr>
        </p:nvSpPr>
        <p:spPr>
          <a:xfrm>
            <a:off x="5099050" y="4508501"/>
            <a:ext cx="7405688" cy="733425"/>
          </a:xfrm>
        </p:spPr>
        <p:txBody>
          <a:bodyPr>
            <a:normAutofit fontScale="25000" lnSpcReduction="20000"/>
          </a:bodyPr>
          <a:lstStyle/>
          <a:p>
            <a:pPr eaLnBrk="1" hangingPunct="1">
              <a:defRPr/>
            </a:pPr>
            <a:r>
              <a:rPr lang="ko-KR" altLang="en-US" b="1" dirty="0" smtClean="0">
                <a:solidFill>
                  <a:srgbClr val="C00000"/>
                </a:solidFill>
              </a:rPr>
              <a:t>의도적 </a:t>
            </a:r>
            <a:r>
              <a:rPr lang="ko-KR" altLang="en-US" b="1" dirty="0" err="1" smtClean="0">
                <a:solidFill>
                  <a:srgbClr val="C00000"/>
                </a:solidFill>
              </a:rPr>
              <a:t>재식술의</a:t>
            </a:r>
            <a:r>
              <a:rPr lang="ko-KR" altLang="en-US" b="1" dirty="0" smtClean="0">
                <a:solidFill>
                  <a:srgbClr val="C00000"/>
                </a:solidFill>
              </a:rPr>
              <a:t> </a:t>
            </a:r>
            <a:r>
              <a:rPr lang="ko-KR" altLang="en-US" b="1" dirty="0" err="1" smtClean="0">
                <a:solidFill>
                  <a:srgbClr val="C00000"/>
                </a:solidFill>
              </a:rPr>
              <a:t>술식</a:t>
            </a:r>
            <a:r>
              <a:rPr lang="en-US" altLang="ko-KR" b="1" dirty="0" smtClean="0">
                <a:solidFill>
                  <a:srgbClr val="C00000"/>
                </a:solidFill>
              </a:rPr>
              <a:t>:</a:t>
            </a:r>
          </a:p>
          <a:p>
            <a:pPr marL="800100" lvl="1" indent="-457200">
              <a:buFont typeface="Arial" panose="020B0604020202020204" pitchFamily="34" charset="0"/>
              <a:buAutoNum type="arabicParenR"/>
              <a:defRPr/>
            </a:pPr>
            <a:r>
              <a:rPr lang="en-US" altLang="ko-KR" dirty="0" smtClean="0"/>
              <a:t>Extraction</a:t>
            </a:r>
          </a:p>
          <a:p>
            <a:pPr marL="800100" lvl="1" indent="-457200">
              <a:buFont typeface="Arial" panose="020B0604020202020204" pitchFamily="34" charset="0"/>
              <a:buAutoNum type="arabicParenR"/>
              <a:defRPr/>
            </a:pPr>
            <a:r>
              <a:rPr lang="en-US" altLang="ko-KR" dirty="0" smtClean="0"/>
              <a:t>Observation with microscopy</a:t>
            </a:r>
          </a:p>
          <a:p>
            <a:pPr marL="800100" lvl="1" indent="-457200">
              <a:buFont typeface="Arial" panose="020B0604020202020204" pitchFamily="34" charset="0"/>
              <a:buAutoNum type="arabicParenR"/>
              <a:defRPr/>
            </a:pPr>
            <a:r>
              <a:rPr lang="en-US" altLang="ko-KR" dirty="0" smtClean="0"/>
              <a:t>Root end resection, preparation</a:t>
            </a:r>
          </a:p>
          <a:p>
            <a:pPr marL="800100" lvl="1" indent="-457200">
              <a:buFont typeface="Arial" panose="020B0604020202020204" pitchFamily="34" charset="0"/>
              <a:buAutoNum type="arabicParenR"/>
              <a:defRPr/>
            </a:pPr>
            <a:r>
              <a:rPr lang="en-US" altLang="ko-KR" dirty="0" smtClean="0"/>
              <a:t>MTA plug </a:t>
            </a:r>
          </a:p>
          <a:p>
            <a:pPr marL="800100" lvl="1" indent="-457200">
              <a:buFont typeface="Arial" panose="020B0604020202020204" pitchFamily="34" charset="0"/>
              <a:buAutoNum type="arabicParenR"/>
              <a:defRPr/>
            </a:pPr>
            <a:r>
              <a:rPr lang="en-US" altLang="ko-KR" dirty="0" smtClean="0"/>
              <a:t>Replantation</a:t>
            </a:r>
            <a:endParaRPr lang="ko-KR" altLang="en-US" dirty="0" smtClean="0"/>
          </a:p>
        </p:txBody>
      </p:sp>
      <p:sp>
        <p:nvSpPr>
          <p:cNvPr id="8" name="모서리가 둥근 직사각형 7"/>
          <p:cNvSpPr>
            <a:spLocks noChangeAspect="1"/>
          </p:cNvSpPr>
          <p:nvPr/>
        </p:nvSpPr>
        <p:spPr>
          <a:xfrm>
            <a:off x="3000376" y="1371600"/>
            <a:ext cx="3095625" cy="20574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/>
              <a:t>임상사진</a:t>
            </a:r>
            <a:endParaRPr lang="en-US" altLang="ko-KR" dirty="0"/>
          </a:p>
          <a:p>
            <a:pPr algn="ctr">
              <a:defRPr/>
            </a:pPr>
            <a:r>
              <a:rPr lang="en-US" altLang="ko-KR" dirty="0"/>
              <a:t>(</a:t>
            </a:r>
            <a:r>
              <a:rPr lang="ko-KR" altLang="en-US" dirty="0" err="1"/>
              <a:t>발치된</a:t>
            </a:r>
            <a:r>
              <a:rPr lang="ko-KR" altLang="en-US" dirty="0"/>
              <a:t> 치아사진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모서리가 둥근 직사각형 5"/>
          <p:cNvSpPr>
            <a:spLocks noChangeAspect="1"/>
          </p:cNvSpPr>
          <p:nvPr/>
        </p:nvSpPr>
        <p:spPr>
          <a:xfrm>
            <a:off x="3362326" y="1697038"/>
            <a:ext cx="3095625" cy="20574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/>
              <a:t>임상사진</a:t>
            </a:r>
            <a:endParaRPr lang="en-US" altLang="ko-KR" dirty="0"/>
          </a:p>
          <a:p>
            <a:pPr algn="ctr">
              <a:defRPr/>
            </a:pPr>
            <a:r>
              <a:rPr lang="en-US" altLang="ko-KR" dirty="0"/>
              <a:t>(</a:t>
            </a:r>
            <a:r>
              <a:rPr lang="ko-KR" altLang="en-US" dirty="0"/>
              <a:t>절단된 </a:t>
            </a:r>
            <a:endParaRPr lang="en-US" altLang="ko-KR" dirty="0"/>
          </a:p>
          <a:p>
            <a:pPr algn="ctr">
              <a:defRPr/>
            </a:pPr>
            <a:r>
              <a:rPr lang="ko-KR" altLang="en-US" dirty="0" err="1"/>
              <a:t>치근면사진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6870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2828925"/>
            <a:ext cx="2700338" cy="151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1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2841625"/>
            <a:ext cx="2681288" cy="150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2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1" y="2840039"/>
            <a:ext cx="268287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3" name="그림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201" y="1368425"/>
            <a:ext cx="2633663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4" name="그림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638" y="1368425"/>
            <a:ext cx="2627312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5" name="그림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863" y="1358901"/>
            <a:ext cx="2647950" cy="148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6" name="그림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639" y="4416426"/>
            <a:ext cx="2625725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5562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제목 1"/>
          <p:cNvSpPr>
            <a:spLocks noGrp="1"/>
          </p:cNvSpPr>
          <p:nvPr>
            <p:ph type="title"/>
          </p:nvPr>
        </p:nvSpPr>
        <p:spPr>
          <a:xfrm>
            <a:off x="2062163" y="457200"/>
            <a:ext cx="8642350" cy="1081088"/>
          </a:xfrm>
        </p:spPr>
        <p:txBody>
          <a:bodyPr/>
          <a:lstStyle/>
          <a:p>
            <a:pPr eaLnBrk="1" hangingPunct="1"/>
            <a:r>
              <a:rPr lang="en-US" altLang="ko-KR" smtClean="0">
                <a:solidFill>
                  <a:srgbClr val="C00000"/>
                </a:solidFill>
              </a:rPr>
              <a:t>20. </a:t>
            </a:r>
            <a:r>
              <a:rPr lang="ko-KR" altLang="en-US" smtClean="0">
                <a:solidFill>
                  <a:srgbClr val="C00000"/>
                </a:solidFill>
              </a:rPr>
              <a:t>의도적재식술</a:t>
            </a:r>
            <a:r>
              <a:rPr lang="en-US" altLang="ko-KR" smtClean="0">
                <a:solidFill>
                  <a:srgbClr val="C00000"/>
                </a:solidFill>
              </a:rPr>
              <a:t>/</a:t>
            </a:r>
            <a:r>
              <a:rPr lang="ko-KR" altLang="en-US" smtClean="0">
                <a:solidFill>
                  <a:srgbClr val="C00000"/>
                </a:solidFill>
              </a:rPr>
              <a:t>자가치아이식술 </a:t>
            </a:r>
            <a:r>
              <a:rPr lang="en-US" altLang="ko-KR" smtClean="0">
                <a:solidFill>
                  <a:srgbClr val="C00000"/>
                </a:solidFill>
              </a:rPr>
              <a:t> </a:t>
            </a:r>
            <a:endParaRPr lang="ko-KR" altLang="en-US" smtClean="0">
              <a:solidFill>
                <a:srgbClr val="C00000"/>
              </a:solidFill>
            </a:endParaRPr>
          </a:p>
        </p:txBody>
      </p:sp>
      <p:pic>
        <p:nvPicPr>
          <p:cNvPr id="37891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901" y="4179888"/>
            <a:ext cx="3217863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314" y="4179888"/>
            <a:ext cx="3189287" cy="213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839" y="1798639"/>
            <a:ext cx="3209925" cy="240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4" name="내용 개체 틀 2"/>
          <p:cNvSpPr>
            <a:spLocks noGrp="1"/>
          </p:cNvSpPr>
          <p:nvPr>
            <p:ph idx="1"/>
          </p:nvPr>
        </p:nvSpPr>
        <p:spPr>
          <a:xfrm>
            <a:off x="3881438" y="1412876"/>
            <a:ext cx="723900" cy="466725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ko-KR" altLang="en-US" smtClean="0">
                <a:solidFill>
                  <a:srgbClr val="C00000"/>
                </a:solidFill>
              </a:rPr>
              <a:t>초진</a:t>
            </a:r>
            <a:endParaRPr lang="en-US" altLang="ko-KR" smtClean="0">
              <a:solidFill>
                <a:srgbClr val="C00000"/>
              </a:solidFill>
            </a:endParaRPr>
          </a:p>
        </p:txBody>
      </p:sp>
      <p:sp>
        <p:nvSpPr>
          <p:cNvPr id="37895" name="내용 개체 틀 2"/>
          <p:cNvSpPr txBox="1">
            <a:spLocks/>
          </p:cNvSpPr>
          <p:nvPr/>
        </p:nvSpPr>
        <p:spPr bwMode="auto">
          <a:xfrm>
            <a:off x="7104063" y="1412875"/>
            <a:ext cx="15938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 latinLnBrk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rgbClr val="0D0D0D"/>
                </a:solidFill>
                <a:latin typeface="나눔바른고딕 Light" pitchFamily="50" charset="-127"/>
                <a:ea typeface="나눔바른고딕 Light" pitchFamily="50" charset="-127"/>
              </a:defRPr>
            </a:lvl1pPr>
            <a:lvl2pPr marL="514350" indent="-171450" defTabSz="685800" latinLnBrk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rgbClr val="0D0D0D"/>
                </a:solidFill>
                <a:latin typeface="나눔바른고딕 Light" pitchFamily="50" charset="-127"/>
                <a:ea typeface="나눔바른고딕 Light" pitchFamily="50" charset="-127"/>
              </a:defRPr>
            </a:lvl2pPr>
            <a:lvl3pPr marL="857250" indent="-171450" defTabSz="685800" latinLnBrk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rgbClr val="0D0D0D"/>
                </a:solidFill>
                <a:latin typeface="나눔바른고딕 Light" pitchFamily="50" charset="-127"/>
                <a:ea typeface="나눔바른고딕 Light" pitchFamily="50" charset="-127"/>
              </a:defRPr>
            </a:lvl3pPr>
            <a:lvl4pPr marL="1200150" indent="-171450" defTabSz="685800" latinLnBrk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rgbClr val="0D0D0D"/>
                </a:solidFill>
                <a:latin typeface="나눔바른고딕 Light" pitchFamily="50" charset="-127"/>
                <a:ea typeface="나눔바른고딕 Light" pitchFamily="50" charset="-127"/>
              </a:defRPr>
            </a:lvl4pPr>
            <a:lvl5pPr marL="1543050" indent="-171450" defTabSz="685800" latinLnBrk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rgbClr val="0D0D0D"/>
                </a:solidFill>
                <a:latin typeface="나눔바른고딕 Light" pitchFamily="50" charset="-127"/>
                <a:ea typeface="나눔바른고딕 Light" pitchFamily="50" charset="-127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rgbClr val="0D0D0D"/>
                </a:solidFill>
                <a:latin typeface="나눔바른고딕 Light" pitchFamily="50" charset="-127"/>
                <a:ea typeface="나눔바른고딕 Light" pitchFamily="50" charset="-127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rgbClr val="0D0D0D"/>
                </a:solidFill>
                <a:latin typeface="나눔바른고딕 Light" pitchFamily="50" charset="-127"/>
                <a:ea typeface="나눔바른고딕 Light" pitchFamily="50" charset="-127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rgbClr val="0D0D0D"/>
                </a:solidFill>
                <a:latin typeface="나눔바른고딕 Light" pitchFamily="50" charset="-127"/>
                <a:ea typeface="나눔바른고딕 Light" pitchFamily="50" charset="-127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rgbClr val="0D0D0D"/>
                </a:solidFill>
                <a:latin typeface="나눔바른고딕 Light" pitchFamily="50" charset="-127"/>
                <a:ea typeface="나눔바른고딕 Light" pitchFamily="50" charset="-127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ko-KR">
                <a:solidFill>
                  <a:srgbClr val="C00000"/>
                </a:solidFill>
              </a:rPr>
              <a:t>1</a:t>
            </a:r>
            <a:r>
              <a:rPr lang="ko-KR" altLang="en-US">
                <a:solidFill>
                  <a:srgbClr val="C00000"/>
                </a:solidFill>
              </a:rPr>
              <a:t>년 </a:t>
            </a:r>
            <a:r>
              <a:rPr lang="en-US" altLang="ko-KR">
                <a:solidFill>
                  <a:srgbClr val="C00000"/>
                </a:solidFill>
              </a:rPr>
              <a:t>5</a:t>
            </a:r>
            <a:r>
              <a:rPr lang="ko-KR" altLang="en-US">
                <a:solidFill>
                  <a:srgbClr val="C00000"/>
                </a:solidFill>
              </a:rPr>
              <a:t>개월 후</a:t>
            </a:r>
            <a:endParaRPr lang="en-US" altLang="ko-KR">
              <a:solidFill>
                <a:srgbClr val="C00000"/>
              </a:solidFill>
            </a:endParaRPr>
          </a:p>
        </p:txBody>
      </p:sp>
      <p:pic>
        <p:nvPicPr>
          <p:cNvPr id="37896" name="그림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901" y="1798639"/>
            <a:ext cx="3186113" cy="238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8356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Microsoft Office PowerPoint</Application>
  <PresentationFormat>와이드스크린</PresentationFormat>
  <Paragraphs>28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나눔바른고딕 Light</vt:lpstr>
      <vt:lpstr>맑은 고딕</vt:lpstr>
      <vt:lpstr>Arial</vt:lpstr>
      <vt:lpstr>Office 테마</vt:lpstr>
      <vt:lpstr>20. 의도적재식술/자가치아이식술 </vt:lpstr>
      <vt:lpstr>20. 의도적재식술/자가치아이식술 </vt:lpstr>
      <vt:lpstr>20. 의도적재식술/자가치아이식술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20. 의도적재식술/자가치아이식술 </dc:title>
  <dc:creator>상담실2</dc:creator>
  <cp:lastModifiedBy>상담실2</cp:lastModifiedBy>
  <cp:revision>1</cp:revision>
  <dcterms:created xsi:type="dcterms:W3CDTF">2025-10-31T10:29:32Z</dcterms:created>
  <dcterms:modified xsi:type="dcterms:W3CDTF">2025-10-31T10:29:52Z</dcterms:modified>
</cp:coreProperties>
</file>